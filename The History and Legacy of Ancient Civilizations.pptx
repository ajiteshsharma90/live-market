
<file path=[Content_Types].xml><?xml version="1.0" encoding="utf-8"?>
<Types xmlns="http://schemas.openxmlformats.org/package/2006/content-types">
  <Default Extension="jpe" ContentType="image/jpeg"/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1" r:id="rId2"/>
  </p:sldMasterIdLst>
  <p:notesMasterIdLst>
    <p:notesMasterId r:id="rId17"/>
  </p:notesMasterIdLst>
  <p:sldIdLst>
    <p:sldId id="256" r:id="rId3"/>
    <p:sldId id="257" r:id="rId4"/>
    <p:sldId id="271" r:id="rId5"/>
    <p:sldId id="258" r:id="rId6"/>
    <p:sldId id="259" r:id="rId7"/>
    <p:sldId id="264" r:id="rId8"/>
    <p:sldId id="265" r:id="rId9"/>
    <p:sldId id="260" r:id="rId10"/>
    <p:sldId id="261" r:id="rId11"/>
    <p:sldId id="268" r:id="rId12"/>
    <p:sldId id="269" r:id="rId13"/>
    <p:sldId id="262" r:id="rId14"/>
    <p:sldId id="263" r:id="rId15"/>
    <p:sldId id="27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641C0E-C099-48D2-8B84-8EE95C53AF49}" type="datetimeFigureOut">
              <a:rPr lang="en-IN" smtClean="0"/>
              <a:t>12-12-2024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0BB547-AC45-4442-B38C-B253B4B1C43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70896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9" name="Google Shape;109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3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0BB547-AC45-4442-B38C-B253B4B1C43C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48630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80E76E-2C07-AA8C-F8F2-CCA3633973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8A8E12B-91E8-65BD-516D-62FE08F4F2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9173CA-9A3D-6C3B-1D6C-F4B8C767C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DA2F13-E5C4-4F49-80FF-DF09FB7ACB5B}" type="datetimeFigureOut">
              <a:rPr lang="en-IN" smtClean="0"/>
              <a:t>12-12-2024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2A3525-688A-C05D-8AF5-E324FA3A18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9FC218-7D36-FEDA-5FC6-FA7B938726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701D9-5CF8-47C3-B4AB-B2055F4EAB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96489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26F851-D232-BE9D-C475-99C559A9A3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68C1AC-6B4F-B2B5-AC2D-B27A51D01D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83C688-6840-235D-71B7-0431334CF6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DA2F13-E5C4-4F49-80FF-DF09FB7ACB5B}" type="datetimeFigureOut">
              <a:rPr lang="en-IN" smtClean="0"/>
              <a:t>12-12-2024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C62766-1A3C-8222-56C8-79EDA7ACE7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EDE864-01E6-0A45-3E78-9D0825FDE4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701D9-5CF8-47C3-B4AB-B2055F4EAB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34191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240D78-2AEC-1DFC-A536-4FC5A03FC4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4F3E14-3810-DB66-9EEA-818C880BC8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F2AD2F-EB23-C053-0055-F999755D9B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DA2F13-E5C4-4F49-80FF-DF09FB7ACB5B}" type="datetimeFigureOut">
              <a:rPr lang="en-IN" smtClean="0"/>
              <a:t>12-12-2024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470C86-D47E-A419-E04F-6762DBBA1A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9DD895-FED7-9393-5E4C-38EF5F264D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701D9-5CF8-47C3-B4AB-B2055F4EAB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0729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4F756B-2FE4-08AB-0453-7F053413DE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7B3C16-7237-4177-104E-45CD65084F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BFDBF91-9C40-DE95-E191-28C014E173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89BE44-5948-2555-25DE-C4742F5FD8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DA2F13-E5C4-4F49-80FF-DF09FB7ACB5B}" type="datetimeFigureOut">
              <a:rPr lang="en-IN" smtClean="0"/>
              <a:t>12-12-2024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3C1CA0-37BF-0E78-9094-FE0AB93207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562957-7357-F79B-BF80-088FA59ED2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701D9-5CF8-47C3-B4AB-B2055F4EAB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83414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54A2E5-8DAC-B34F-F8E4-D39B13CFDA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F3A110-093D-B005-2FAA-51A3E7D021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5B2BA4-0DD1-7CDA-0829-D1698F5A2D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0304137-6BA5-2E48-B9CB-5D6AD7EE4B0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F8D6404-403D-F392-5AB1-ACFC213396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A4EC1D-D1F8-40CE-6927-F33DDD767B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DA2F13-E5C4-4F49-80FF-DF09FB7ACB5B}" type="datetimeFigureOut">
              <a:rPr lang="en-IN" smtClean="0"/>
              <a:t>12-12-2024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F663B0F-0484-C98B-45FD-17C1CD62B7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9E8C168-D282-E98E-E553-9C59CB49FB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701D9-5CF8-47C3-B4AB-B2055F4EAB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69255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7481A9-ADD8-E212-19EF-D397668F05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C9BE821-683B-BFBC-0554-7B0AE8BD84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DA2F13-E5C4-4F49-80FF-DF09FB7ACB5B}" type="datetimeFigureOut">
              <a:rPr lang="en-IN" smtClean="0"/>
              <a:t>12-12-2024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39A32DB-862D-D37C-92EC-AA584A5849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EBCA41-B2E7-C7CE-EA0A-3892DE7C81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701D9-5CF8-47C3-B4AB-B2055F4EAB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68836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4CCBD8-1C59-F956-3372-3DC5AA61BE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DA2F13-E5C4-4F49-80FF-DF09FB7ACB5B}" type="datetimeFigureOut">
              <a:rPr lang="en-IN" smtClean="0"/>
              <a:t>12-12-2024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CA257A9-565C-DB5E-5414-365A800FB4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82B70F-F153-8E58-6102-A246F82C57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701D9-5CF8-47C3-B4AB-B2055F4EAB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31196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39D2C5-1094-6647-B887-2A6D8A6C18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9822FA-FCD9-F812-82A1-387DC082E9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E7D255-91F9-FA94-6F7A-19588B6C5B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4FD723-DC00-8C80-CDE5-E01CD07715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DA2F13-E5C4-4F49-80FF-DF09FB7ACB5B}" type="datetimeFigureOut">
              <a:rPr lang="en-IN" smtClean="0"/>
              <a:t>12-12-2024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458674-8507-2D60-9DC4-728EFB2458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69F1EB-30AD-D98A-DE3E-F9008AD558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701D9-5CF8-47C3-B4AB-B2055F4EAB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02508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C18196-9D58-123C-8E7A-6F8261DA77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ACC369E-3ACA-919D-C0CD-74D0A7C032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01F1E9C-7244-3FCF-629C-36432EA50D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2FF6FC-50BE-DF77-951B-9BE8985EEB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DA2F13-E5C4-4F49-80FF-DF09FB7ACB5B}" type="datetimeFigureOut">
              <a:rPr lang="en-IN" smtClean="0"/>
              <a:t>12-12-2024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BCB697-C179-C3D1-9E23-18A472F770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FD846D-6F8E-A15E-ADDD-C35B1614E9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701D9-5CF8-47C3-B4AB-B2055F4EAB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13729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603D14-B00E-07E5-820A-A3CAABD782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4A1BE23-7039-2303-9EEC-55C5C95B7C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6687F0-EA40-56AC-42BE-1CE515A29A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DA2F13-E5C4-4F49-80FF-DF09FB7ACB5B}" type="datetimeFigureOut">
              <a:rPr lang="en-IN" smtClean="0"/>
              <a:t>12-12-2024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438BA6-9E4B-38EC-9F55-A7BDC614BC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1AD355-164F-922E-D2FD-CC8952E847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701D9-5CF8-47C3-B4AB-B2055F4EAB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68043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F9390E3-DBE4-B7B7-BB57-274F0C6CFD0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D7027D-18E2-ED57-D782-D32A25D549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902FB8-08D6-B4B2-8448-DAB2C30C7F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DA2F13-E5C4-4F49-80FF-DF09FB7ACB5B}" type="datetimeFigureOut">
              <a:rPr lang="en-IN" smtClean="0"/>
              <a:t>12-12-2024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F4B5E7-F846-132D-0E29-9F70ED1C11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8BA728-4507-A487-0221-72730DA230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701D9-5CF8-47C3-B4AB-B2055F4EAB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488028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F74639-358D-B858-9C18-07D21C9B1E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6FF615-73A8-367F-DC1B-E80C4C1FBA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D027CB-BED0-8708-F321-4D08DF0F80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DA2F13-E5C4-4F49-80FF-DF09FB7ACB5B}" type="datetimeFigureOut">
              <a:rPr lang="en-IN" smtClean="0"/>
              <a:t>12-12-2024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D9A5EA-0DAB-F04F-A310-9C09919E56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D663B3-4E9E-66AA-DC10-F6218AE9A3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701D9-5CF8-47C3-B4AB-B2055F4EAB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808531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3199428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 type="tx">
  <p:cSld name="Title and Tex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7358079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Title and Content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0791709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8886698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 Content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574298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Comparison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7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2" name="Google Shape;52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93458019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6535327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4438233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Content with Caption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8" name="Google Shape;68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0990047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 with Caption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1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4" name="Google Shape;74;p11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1630221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Title and Vertical 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9392748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 Title and Text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3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7" name="Google Shape;87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189999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D9F1704-1DD9-7928-CAC0-AD00776691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B9BCDB-589C-8020-6940-4B792B9FDD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CEF30E-6247-CA5A-7899-0BEA2D5081F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7DA2F13-E5C4-4F49-80FF-DF09FB7ACB5B}" type="datetimeFigureOut">
              <a:rPr lang="en-IN" smtClean="0"/>
              <a:t>12-12-2024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E65086-39AF-E9B7-997D-A1495E6238A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57885F-290F-2208-350B-0AB5F59CB0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EF701D9-5CF8-47C3-B4AB-B2055F4EAB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78944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sz="4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61230725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4" Type="http://schemas.openxmlformats.org/officeDocument/2006/relationships/hyperlink" Target="https://lah.ru/lahobj/pasargad/" TargetMode="Externa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courses.lumenlearning.com/boundless-worldhistory/chapter/the-indus-river-valley-civilizations/" TargetMode="External"/><Relationship Id="rId2" Type="http://schemas.openxmlformats.org/officeDocument/2006/relationships/image" Target="../media/image5.jpe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library.achievingthedream.org/pimawesternciv1/chapter/reading-the-indus-river-valley-civilizations/" TargetMode="External"/><Relationship Id="rId2" Type="http://schemas.openxmlformats.org/officeDocument/2006/relationships/image" Target="../media/image6.jpe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clicksforfun.blogspot.com/2011/10/brush-with-ancient-great-wall-of-china.html" TargetMode="External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://www.metmuseum.org/art/collection/search/49156" TargetMode="External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mentefilosofica.com/2019/05/la-figura-de-socrates.html?m=0" TargetMode="External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1DD1A8A-57D5-4A81-AD04-532B043C56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Video 4" descr="3D Graphs">
            <a:extLst>
              <a:ext uri="{FF2B5EF4-FFF2-40B4-BE49-F238E27FC236}">
                <a16:creationId xmlns:a16="http://schemas.microsoft.com/office/drawing/2014/main" id="{7B8CA4A9-8FCB-B8DF-3406-2A9552D0280A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t="284" r="1" b="1"/>
          <a:stretch/>
        </p:blipFill>
        <p:spPr>
          <a:xfrm>
            <a:off x="-3047" y="10"/>
            <a:ext cx="12191999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007891EC-4501-44ED-A8C8-B11B6DB767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7602"/>
            <a:ext cx="12191999" cy="3162146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0"/>
                </a:srgbClr>
              </a:gs>
              <a:gs pos="25000">
                <a:srgbClr val="000000">
                  <a:alpha val="15000"/>
                </a:srgbClr>
              </a:gs>
              <a:gs pos="75000">
                <a:srgbClr val="000000">
                  <a:alpha val="15000"/>
                </a:srgbClr>
              </a:gs>
              <a:gs pos="50000">
                <a:srgbClr val="000000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D623CA3-39A5-FEC8-9C16-8A59AE08AC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80" y="325550"/>
            <a:ext cx="10058400" cy="357477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en-GB" sz="5200">
                <a:solidFill>
                  <a:srgbClr val="FFFFFF"/>
                </a:solidFill>
              </a:rPr>
              <a:t>The History and Legacy of Ancient Civilizations</a:t>
            </a:r>
            <a:endParaRPr lang="en-IN" sz="5200">
              <a:solidFill>
                <a:srgbClr val="FFFFFF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072A0C5-E088-EAED-D2C4-F2DF095B76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00051" y="4072043"/>
            <a:ext cx="10058400" cy="1282707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en-GB">
                <a:solidFill>
                  <a:srgbClr val="FFFFFF"/>
                </a:solidFill>
              </a:rPr>
              <a:t>A Brief Overview of Key Ancient Civilizations</a:t>
            </a:r>
            <a:endParaRPr lang="en-IN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259432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685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video>
              <p:cMediaNode mute="1">
                <p:cTn id="12" repeatCount="indefinite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B0EA97-5515-BF7D-5936-8A6E5F0796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8557" y="1138036"/>
            <a:ext cx="5444382" cy="140247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200" dirty="0"/>
              <a:t>Introduction</a:t>
            </a:r>
          </a:p>
        </p:txBody>
      </p:sp>
      <p:pic>
        <p:nvPicPr>
          <p:cNvPr id="5" name="Picture 4" descr="3D rendering of a city in white">
            <a:extLst>
              <a:ext uri="{FF2B5EF4-FFF2-40B4-BE49-F238E27FC236}">
                <a16:creationId xmlns:a16="http://schemas.microsoft.com/office/drawing/2014/main" id="{2D4676B6-091C-E975-B10A-EFA5F9DEEFB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3764" r="30606" b="-1"/>
          <a:stretch/>
        </p:blipFill>
        <p:spPr>
          <a:xfrm>
            <a:off x="-1" y="10"/>
            <a:ext cx="5151179" cy="6857990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503BFE4-729B-D9D0-C17B-501E6AF112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971697" y="871146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319BC4-94F1-907F-E691-DC2FA0EBDC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68557" y="2025446"/>
            <a:ext cx="5444382" cy="4463844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000" dirty="0"/>
              <a:t>Ancient civilizations shaped modern society in multiple ways.</a:t>
            </a:r>
          </a:p>
          <a:p>
            <a:pPr marL="0" indent="0">
              <a:buNone/>
            </a:pPr>
            <a:endParaRPr lang="en-US" sz="2000" dirty="0"/>
          </a:p>
          <a:p>
            <a:r>
              <a:rPr lang="en-US" sz="2000" dirty="0"/>
              <a:t>They laid the foundations for governance, writing, and technological advances.</a:t>
            </a:r>
          </a:p>
          <a:p>
            <a:endParaRPr lang="en-US" sz="2000" dirty="0"/>
          </a:p>
          <a:p>
            <a:r>
              <a:rPr lang="en-US" sz="2000" dirty="0"/>
              <a:t>This presentation covers the Sumerians, Egyptians, Greeks, Indus Valley, and Ancient China.</a:t>
            </a:r>
          </a:p>
          <a:p>
            <a:endParaRPr lang="en-US" sz="2000" dirty="0"/>
          </a:p>
          <a:p>
            <a:r>
              <a:rPr lang="en-US" sz="2000" dirty="0"/>
              <a:t>Explore the history and legacy of these influential civilizations.</a:t>
            </a:r>
          </a:p>
        </p:txBody>
      </p:sp>
    </p:spTree>
    <p:extLst>
      <p:ext uri="{BB962C8B-B14F-4D97-AF65-F5344CB8AC3E}">
        <p14:creationId xmlns:p14="http://schemas.microsoft.com/office/powerpoint/2010/main" val="28002826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6"/>
          <p:cNvSpPr/>
          <p:nvPr/>
        </p:nvSpPr>
        <p:spPr>
          <a:xfrm>
            <a:off x="-1" y="0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16"/>
          <p:cNvSpPr txBox="1">
            <a:spLocks noGrp="1"/>
          </p:cNvSpPr>
          <p:nvPr>
            <p:ph type="title"/>
          </p:nvPr>
        </p:nvSpPr>
        <p:spPr>
          <a:xfrm>
            <a:off x="836679" y="723898"/>
            <a:ext cx="6002110" cy="1495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Play"/>
              <a:buNone/>
            </a:pPr>
            <a:r>
              <a:rPr lang="en-US" sz="4000"/>
              <a:t>Sumerians - History</a:t>
            </a:r>
            <a:endParaRPr/>
          </a:p>
        </p:txBody>
      </p:sp>
      <p:sp>
        <p:nvSpPr>
          <p:cNvPr id="114" name="Google Shape;114;p16"/>
          <p:cNvSpPr txBox="1">
            <a:spLocks noGrp="1"/>
          </p:cNvSpPr>
          <p:nvPr>
            <p:ph type="body" idx="1"/>
          </p:nvPr>
        </p:nvSpPr>
        <p:spPr>
          <a:xfrm>
            <a:off x="836680" y="2405067"/>
            <a:ext cx="6002110" cy="37290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</a:pPr>
            <a:r>
              <a:rPr lang="en-US" sz="1700"/>
              <a:t>The Sumerians were one of the earliest known civilizations in Mesopotamia (c. 3100 BCE to c. 539 BCE).</a:t>
            </a:r>
            <a:endParaRPr/>
          </a:p>
          <a:p>
            <a:pPr marL="0" lvl="0" indent="1079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None/>
            </a:pPr>
            <a:endParaRPr sz="170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</a:pPr>
            <a:r>
              <a:rPr lang="en-US" sz="1700"/>
              <a:t>They formed independent city-states like Ur, Uruk, and Lagash, each governed by its own ruler and dedicated to a patron deity</a:t>
            </a:r>
            <a:endParaRPr/>
          </a:p>
          <a:p>
            <a:pPr marL="0" lvl="0" indent="10795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None/>
            </a:pPr>
            <a:endParaRPr sz="1700"/>
          </a:p>
          <a:p>
            <a:pPr marL="228600" lvl="0" indent="-2222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Char char="•"/>
            </a:pPr>
            <a:r>
              <a:rPr lang="en-US" sz="1700"/>
              <a:t>Mesopotamian civilization included the Sumerian city-states, Akkadian Empire, Assyrian Empire, Neo-Babylonian Empire.</a:t>
            </a:r>
            <a:endParaRPr sz="1700"/>
          </a:p>
          <a:p>
            <a:pPr marL="0" lvl="0" indent="10795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None/>
            </a:pPr>
            <a:endParaRPr sz="170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</a:pPr>
            <a:r>
              <a:rPr lang="en-US" sz="1700"/>
              <a:t>The end of Mesopotamian civilization is marked by the fall of the Neo-Babylonian Empire in 539 BCE, followed by its assimilation under Persian, Greek, and Roman rule.</a:t>
            </a:r>
            <a:endParaRPr/>
          </a:p>
        </p:txBody>
      </p:sp>
      <p:pic>
        <p:nvPicPr>
          <p:cNvPr id="115" name="Google Shape;115;p16" descr="A stone carving of men with heads&#10;&#10;Description automatically generated with medium confidence"/>
          <p:cNvPicPr preferRelativeResize="0"/>
          <p:nvPr/>
        </p:nvPicPr>
        <p:blipFill rotWithShape="1">
          <a:blip r:embed="rId3">
            <a:alphaModFix/>
          </a:blip>
          <a:srcRect l="16640" r="42411"/>
          <a:stretch/>
        </p:blipFill>
        <p:spPr>
          <a:xfrm>
            <a:off x="7199440" y="10"/>
            <a:ext cx="4992560" cy="68579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0" name="Rectangle 39">
            <a:extLst>
              <a:ext uri="{FF2B5EF4-FFF2-40B4-BE49-F238E27FC236}">
                <a16:creationId xmlns:a16="http://schemas.microsoft.com/office/drawing/2014/main" id="{D1D34770-47A8-402C-AF23-2B653F2D88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048FFC-7815-6C21-1A1E-D969E18B0A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6679" y="723898"/>
            <a:ext cx="6002110" cy="1495425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dirty="0"/>
              <a:t>Sumerians - History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C965F4-CAF9-4067-1D25-54B44BAE57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6680" y="2405067"/>
            <a:ext cx="6002110" cy="3729034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1700"/>
              <a:t>The Sumerians were one of the earliest known civilizations in Mesopotamia (c. 3100 BCE to c. 539 BCE).</a:t>
            </a:r>
          </a:p>
          <a:p>
            <a:pPr marL="0"/>
            <a:endParaRPr lang="en-US" sz="1700"/>
          </a:p>
          <a:p>
            <a:r>
              <a:rPr lang="en-US" sz="1700"/>
              <a:t>They created one of the first writing systems, cuneiform, for record-keeping.</a:t>
            </a:r>
          </a:p>
          <a:p>
            <a:pPr marL="0"/>
            <a:endParaRPr lang="en-US" sz="1700"/>
          </a:p>
          <a:p>
            <a:r>
              <a:rPr lang="en-US" sz="1700"/>
              <a:t>Established city-states like Ur, with advances in law and governance.</a:t>
            </a:r>
          </a:p>
          <a:p>
            <a:pPr marL="0"/>
            <a:endParaRPr lang="en-US" sz="1700"/>
          </a:p>
          <a:p>
            <a:r>
              <a:rPr lang="en-US" sz="1700"/>
              <a:t>Sumerians invented the wheel and made significant advances in mathematics and astronomy.</a:t>
            </a:r>
          </a:p>
        </p:txBody>
      </p:sp>
      <p:pic>
        <p:nvPicPr>
          <p:cNvPr id="14" name="Picture 13" descr="A stone carving of men with heads&#10;&#10;Description automatically generated with medium confidence">
            <a:extLst>
              <a:ext uri="{FF2B5EF4-FFF2-40B4-BE49-F238E27FC236}">
                <a16:creationId xmlns:a16="http://schemas.microsoft.com/office/drawing/2014/main" id="{9F8CF2FD-819F-5010-6EB6-9DEB0C1DF9E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rcRect l="16640" r="42411"/>
          <a:stretch/>
        </p:blipFill>
        <p:spPr>
          <a:xfrm>
            <a:off x="7199440" y="10"/>
            <a:ext cx="4992560" cy="6857990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7572747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9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stone carving of a person and two men&#10;&#10;Description automatically generated">
            <a:extLst>
              <a:ext uri="{FF2B5EF4-FFF2-40B4-BE49-F238E27FC236}">
                <a16:creationId xmlns:a16="http://schemas.microsoft.com/office/drawing/2014/main" id="{9778B9F0-E6C3-CC97-A56B-ADC9C6E2B3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401"/>
          <a:stretch/>
        </p:blipFill>
        <p:spPr>
          <a:xfrm>
            <a:off x="2522356" y="10"/>
            <a:ext cx="9669642" cy="685799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7390263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7C5C035-A1EE-819E-9128-A4230418E2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5468" y="76372"/>
            <a:ext cx="3822189" cy="189991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dirty="0"/>
              <a:t>Sumerians - Legacy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C59CC2-707B-9429-F418-62D5A40B30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65471" y="1976284"/>
            <a:ext cx="4896463" cy="4200679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1900" dirty="0"/>
              <a:t>Cuneiform writing influenced later writing systems.</a:t>
            </a:r>
          </a:p>
          <a:p>
            <a:endParaRPr lang="en-US" sz="1900" dirty="0"/>
          </a:p>
          <a:p>
            <a:r>
              <a:rPr lang="en-US" sz="1900" dirty="0"/>
              <a:t>Their legal systems and innovations in mathematics set the foundation for future societies.</a:t>
            </a:r>
          </a:p>
          <a:p>
            <a:endParaRPr lang="en-US" sz="1900" dirty="0"/>
          </a:p>
          <a:p>
            <a:r>
              <a:rPr lang="en-US" sz="1900" dirty="0"/>
              <a:t>Their architectural designs, like the ziggurats, influenced later civilizations.</a:t>
            </a:r>
          </a:p>
          <a:p>
            <a:endParaRPr lang="en-US" sz="1900" dirty="0"/>
          </a:p>
          <a:p>
            <a:r>
              <a:rPr lang="en-US" sz="1900" dirty="0"/>
              <a:t>Many of their cultural and technological advances were adopted by future empires.</a:t>
            </a:r>
          </a:p>
        </p:txBody>
      </p:sp>
    </p:spTree>
    <p:extLst>
      <p:ext uri="{BB962C8B-B14F-4D97-AF65-F5344CB8AC3E}">
        <p14:creationId xmlns:p14="http://schemas.microsoft.com/office/powerpoint/2010/main" val="18219931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stone ruins of Mohenjo-daro&#10;&#10;Description automatically generated with medium confidence">
            <a:extLst>
              <a:ext uri="{FF2B5EF4-FFF2-40B4-BE49-F238E27FC236}">
                <a16:creationId xmlns:a16="http://schemas.microsoft.com/office/drawing/2014/main" id="{3B47788B-4AF3-B0B9-60A7-A3B3C9494D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l="10114"/>
          <a:stretch/>
        </p:blipFill>
        <p:spPr>
          <a:xfrm>
            <a:off x="1" y="10"/>
            <a:ext cx="9669642" cy="685799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125019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20125A-9A50-DC02-C101-B21CF1B25B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0894" y="365125"/>
            <a:ext cx="4512905" cy="189991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dirty="0"/>
              <a:t>Indus Valley - History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D4028E-F271-4AB8-6B1E-DBEAD47CA6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40894" y="2434201"/>
            <a:ext cx="5203622" cy="3742762"/>
          </a:xfrm>
        </p:spPr>
        <p:txBody>
          <a:bodyPr vert="horz" lIns="91440" tIns="45720" rIns="91440" bIns="45720" rtlCol="0">
            <a:normAutofit/>
          </a:bodyPr>
          <a:lstStyle/>
          <a:p>
            <a:pPr marL="0"/>
            <a:r>
              <a:rPr lang="en-US" sz="1600" dirty="0"/>
              <a:t>The Indus Valley Civilization (c. 3300 - 1300 BCE) flourished in present-day Pakistan and India.</a:t>
            </a:r>
          </a:p>
          <a:p>
            <a:pPr marL="0"/>
            <a:endParaRPr lang="en-US" sz="1600" dirty="0"/>
          </a:p>
          <a:p>
            <a:pPr marL="0"/>
            <a:r>
              <a:rPr lang="en-US" sz="1600" dirty="0"/>
              <a:t>Known for advanced urban planning, including drainage systems and grid-like streets.</a:t>
            </a:r>
          </a:p>
          <a:p>
            <a:pPr marL="0"/>
            <a:endParaRPr lang="en-US" sz="1600" dirty="0"/>
          </a:p>
          <a:p>
            <a:pPr marL="0"/>
            <a:r>
              <a:rPr lang="en-US" sz="1600" dirty="0"/>
              <a:t>Major cities included Harappa and Mohenjo-Daro.</a:t>
            </a:r>
          </a:p>
          <a:p>
            <a:pPr marL="0"/>
            <a:endParaRPr lang="en-US" sz="1600" dirty="0"/>
          </a:p>
          <a:p>
            <a:pPr marL="0"/>
            <a:r>
              <a:rPr lang="en-US" sz="1600" dirty="0"/>
              <a:t>They developed a form of writing, though it remains undeciphered.</a:t>
            </a:r>
          </a:p>
        </p:txBody>
      </p:sp>
    </p:spTree>
    <p:extLst>
      <p:ext uri="{BB962C8B-B14F-4D97-AF65-F5344CB8AC3E}">
        <p14:creationId xmlns:p14="http://schemas.microsoft.com/office/powerpoint/2010/main" val="356938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C79CB09-C1D8-DBE6-C29D-0656132D93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4649" y="315077"/>
            <a:ext cx="4978400" cy="195684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 dirty="0"/>
              <a:t>Indus Valley - Legacy</a:t>
            </a:r>
          </a:p>
        </p:txBody>
      </p:sp>
      <p:sp>
        <p:nvSpPr>
          <p:cNvPr id="13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onnsiteX0" fmla="*/ 0 w 3474720"/>
              <a:gd name="connsiteY0" fmla="*/ 0 h 18288"/>
              <a:gd name="connsiteX1" fmla="*/ 694944 w 3474720"/>
              <a:gd name="connsiteY1" fmla="*/ 0 h 18288"/>
              <a:gd name="connsiteX2" fmla="*/ 1355141 w 3474720"/>
              <a:gd name="connsiteY2" fmla="*/ 0 h 18288"/>
              <a:gd name="connsiteX3" fmla="*/ 2015338 w 3474720"/>
              <a:gd name="connsiteY3" fmla="*/ 0 h 18288"/>
              <a:gd name="connsiteX4" fmla="*/ 2779776 w 3474720"/>
              <a:gd name="connsiteY4" fmla="*/ 0 h 18288"/>
              <a:gd name="connsiteX5" fmla="*/ 3474720 w 3474720"/>
              <a:gd name="connsiteY5" fmla="*/ 0 h 18288"/>
              <a:gd name="connsiteX6" fmla="*/ 3474720 w 3474720"/>
              <a:gd name="connsiteY6" fmla="*/ 18288 h 18288"/>
              <a:gd name="connsiteX7" fmla="*/ 2779776 w 3474720"/>
              <a:gd name="connsiteY7" fmla="*/ 18288 h 18288"/>
              <a:gd name="connsiteX8" fmla="*/ 2189074 w 3474720"/>
              <a:gd name="connsiteY8" fmla="*/ 18288 h 18288"/>
              <a:gd name="connsiteX9" fmla="*/ 1528877 w 3474720"/>
              <a:gd name="connsiteY9" fmla="*/ 18288 h 18288"/>
              <a:gd name="connsiteX10" fmla="*/ 868680 w 3474720"/>
              <a:gd name="connsiteY10" fmla="*/ 18288 h 18288"/>
              <a:gd name="connsiteX11" fmla="*/ 0 w 3474720"/>
              <a:gd name="connsiteY11" fmla="*/ 18288 h 18288"/>
              <a:gd name="connsiteX12" fmla="*/ 0 w 347472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F1F1E9-82BE-AF61-86D7-B03A8AC4DA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23520" y="2872899"/>
            <a:ext cx="4978400" cy="3794748"/>
          </a:xfrm>
        </p:spPr>
        <p:txBody>
          <a:bodyPr vert="horz" lIns="91440" tIns="45720" rIns="91440" bIns="45720" rtlCol="0">
            <a:normAutofit/>
          </a:bodyPr>
          <a:lstStyle/>
          <a:p>
            <a:pPr marL="0"/>
            <a:r>
              <a:rPr lang="en-US" sz="1700" dirty="0"/>
              <a:t>The cities of the Indus Valley were models of urban planning, influencing later civilizations.</a:t>
            </a:r>
          </a:p>
          <a:p>
            <a:pPr marL="0" indent="0">
              <a:buNone/>
            </a:pPr>
            <a:endParaRPr lang="en-US" sz="1700" dirty="0"/>
          </a:p>
          <a:p>
            <a:pPr marL="0"/>
            <a:r>
              <a:rPr lang="en-US" sz="1700" dirty="0"/>
              <a:t>Their advanced drainage systems and public baths influenced sanitation practices.</a:t>
            </a:r>
          </a:p>
          <a:p>
            <a:pPr marL="0" indent="0">
              <a:buNone/>
            </a:pPr>
            <a:endParaRPr lang="en-US" sz="1700" dirty="0"/>
          </a:p>
          <a:p>
            <a:pPr marL="0"/>
            <a:r>
              <a:rPr lang="en-US" sz="1700" dirty="0"/>
              <a:t>The undeciphered script remains a mystery and a subject of ongoing research.</a:t>
            </a:r>
          </a:p>
          <a:p>
            <a:pPr marL="0" indent="0">
              <a:buNone/>
            </a:pPr>
            <a:endParaRPr lang="en-US" sz="1700" dirty="0"/>
          </a:p>
          <a:p>
            <a:pPr marL="0"/>
            <a:r>
              <a:rPr lang="en-US" sz="1700" dirty="0"/>
              <a:t>Their trade networks reached as far as Mesopotamia and ancient Persia.</a:t>
            </a:r>
          </a:p>
        </p:txBody>
      </p:sp>
      <p:pic>
        <p:nvPicPr>
          <p:cNvPr id="5" name="Picture 4" descr="A close-up of a stone with carvings&#10;&#10;Description automatically generated">
            <a:extLst>
              <a:ext uri="{FF2B5EF4-FFF2-40B4-BE49-F238E27FC236}">
                <a16:creationId xmlns:a16="http://schemas.microsoft.com/office/drawing/2014/main" id="{8859C75D-A12F-2A7F-D64A-5391D2CFDD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r="1" b="1051"/>
          <a:stretch/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9640237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6" name="Rectangle 45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519D733-B1F0-3006-EC7A-B3B013940A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5369"/>
            <a:ext cx="4368602" cy="195684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/>
              <a:t>Ancient Egypt - History</a:t>
            </a:r>
          </a:p>
        </p:txBody>
      </p:sp>
      <p:sp>
        <p:nvSpPr>
          <p:cNvPr id="47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onnsiteX0" fmla="*/ 0 w 3474720"/>
              <a:gd name="connsiteY0" fmla="*/ 0 h 18288"/>
              <a:gd name="connsiteX1" fmla="*/ 694944 w 3474720"/>
              <a:gd name="connsiteY1" fmla="*/ 0 h 18288"/>
              <a:gd name="connsiteX2" fmla="*/ 1355141 w 3474720"/>
              <a:gd name="connsiteY2" fmla="*/ 0 h 18288"/>
              <a:gd name="connsiteX3" fmla="*/ 2015338 w 3474720"/>
              <a:gd name="connsiteY3" fmla="*/ 0 h 18288"/>
              <a:gd name="connsiteX4" fmla="*/ 2779776 w 3474720"/>
              <a:gd name="connsiteY4" fmla="*/ 0 h 18288"/>
              <a:gd name="connsiteX5" fmla="*/ 3474720 w 3474720"/>
              <a:gd name="connsiteY5" fmla="*/ 0 h 18288"/>
              <a:gd name="connsiteX6" fmla="*/ 3474720 w 3474720"/>
              <a:gd name="connsiteY6" fmla="*/ 18288 h 18288"/>
              <a:gd name="connsiteX7" fmla="*/ 2779776 w 3474720"/>
              <a:gd name="connsiteY7" fmla="*/ 18288 h 18288"/>
              <a:gd name="connsiteX8" fmla="*/ 2189074 w 3474720"/>
              <a:gd name="connsiteY8" fmla="*/ 18288 h 18288"/>
              <a:gd name="connsiteX9" fmla="*/ 1528877 w 3474720"/>
              <a:gd name="connsiteY9" fmla="*/ 18288 h 18288"/>
              <a:gd name="connsiteX10" fmla="*/ 868680 w 3474720"/>
              <a:gd name="connsiteY10" fmla="*/ 18288 h 18288"/>
              <a:gd name="connsiteX11" fmla="*/ 0 w 3474720"/>
              <a:gd name="connsiteY11" fmla="*/ 18288 h 18288"/>
              <a:gd name="connsiteX12" fmla="*/ 0 w 347472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782F15-8B5A-7688-0A0F-64B3684709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2872899"/>
            <a:ext cx="4243589" cy="3320668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1500"/>
              <a:t>Ancient Egypt flourished along the Nile River (c. 3100 BCE to c. 30 BCE).</a:t>
            </a:r>
          </a:p>
          <a:p>
            <a:pPr marL="0"/>
            <a:endParaRPr lang="en-US" sz="1500"/>
          </a:p>
          <a:p>
            <a:pPr marL="0"/>
            <a:r>
              <a:rPr lang="en-US" sz="1500"/>
              <a:t> Known for its pharaohs, pyramids, and elaborate burial practices.</a:t>
            </a:r>
          </a:p>
          <a:p>
            <a:pPr marL="0"/>
            <a:endParaRPr lang="en-US" sz="1500"/>
          </a:p>
          <a:p>
            <a:pPr marL="0"/>
            <a:r>
              <a:rPr lang="en-US" sz="1500"/>
              <a:t> Developed hieroglyphics, a complex writing system.</a:t>
            </a:r>
          </a:p>
          <a:p>
            <a:pPr marL="0"/>
            <a:endParaRPr lang="en-US" sz="1500"/>
          </a:p>
          <a:p>
            <a:pPr marL="0"/>
            <a:r>
              <a:rPr lang="en-US" sz="1500"/>
              <a:t> Pioneered advances in architecture, mathematics, and medicine.</a:t>
            </a:r>
          </a:p>
        </p:txBody>
      </p:sp>
      <p:pic>
        <p:nvPicPr>
          <p:cNvPr id="5" name="Picture 4" descr="View of the Great Pyramid Complex of Giza in Egypt">
            <a:extLst>
              <a:ext uri="{FF2B5EF4-FFF2-40B4-BE49-F238E27FC236}">
                <a16:creationId xmlns:a16="http://schemas.microsoft.com/office/drawing/2014/main" id="{E53ED206-5F2D-2E6C-C17A-158C0A6C194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881" r="22166" b="-1"/>
          <a:stretch/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695186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D009D6D5-DAC2-4A8B-A17A-E206B9012D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688723-09A7-9E75-9DD2-100AA86EE2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65125"/>
            <a:ext cx="5251316" cy="1807305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Ancient Egypt - Legacy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022035-625E-B41E-D59E-6735670313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333297"/>
            <a:ext cx="4619621" cy="3843666"/>
          </a:xfrm>
        </p:spPr>
        <p:txBody>
          <a:bodyPr vert="horz" lIns="91440" tIns="45720" rIns="91440" bIns="45720" rtlCol="0">
            <a:normAutofit/>
          </a:bodyPr>
          <a:lstStyle/>
          <a:p>
            <a:pPr marL="0"/>
            <a:r>
              <a:rPr lang="en-US" sz="1400" b="1" dirty="0"/>
              <a:t>Monuments</a:t>
            </a:r>
            <a:r>
              <a:rPr lang="en-US" sz="1400" dirty="0"/>
              <a:t>: Pyramids and temples are iconic landmarks of Ancient Egypt's architecture and religion.</a:t>
            </a:r>
          </a:p>
          <a:p>
            <a:pPr marL="0"/>
            <a:endParaRPr lang="en-US" sz="1400" dirty="0"/>
          </a:p>
          <a:p>
            <a:pPr marL="0"/>
            <a:r>
              <a:rPr lang="en-US" sz="1400" b="1" dirty="0"/>
              <a:t>Hieroglyphics</a:t>
            </a:r>
            <a:r>
              <a:rPr lang="en-US" sz="1400" dirty="0"/>
              <a:t>: Influenced later writing systems, particularly in the Mediterranean, shaping communication and record-keeping.</a:t>
            </a:r>
          </a:p>
          <a:p>
            <a:pPr marL="0"/>
            <a:endParaRPr lang="en-US" sz="1400" dirty="0"/>
          </a:p>
          <a:p>
            <a:pPr marL="0"/>
            <a:r>
              <a:rPr lang="en-US" sz="1400" b="1" dirty="0"/>
              <a:t>Medicine</a:t>
            </a:r>
            <a:r>
              <a:rPr lang="en-US" sz="1400" dirty="0"/>
              <a:t>: Advanced in areas like surgery, laying the groundwork for future medical innovations.</a:t>
            </a:r>
          </a:p>
          <a:p>
            <a:pPr marL="0"/>
            <a:endParaRPr lang="en-US" sz="1400" dirty="0"/>
          </a:p>
          <a:p>
            <a:pPr marL="0"/>
            <a:r>
              <a:rPr lang="en-US" sz="1400" b="1" dirty="0"/>
              <a:t>Governance</a:t>
            </a:r>
            <a:r>
              <a:rPr lang="en-US" sz="1400" dirty="0"/>
              <a:t>: The structure of the centralized power under the pharaohs influenced the governance of later states.</a:t>
            </a:r>
          </a:p>
        </p:txBody>
      </p:sp>
      <p:pic>
        <p:nvPicPr>
          <p:cNvPr id="5" name="Picture 4" descr="Close-up of a pyramid">
            <a:extLst>
              <a:ext uri="{FF2B5EF4-FFF2-40B4-BE49-F238E27FC236}">
                <a16:creationId xmlns:a16="http://schemas.microsoft.com/office/drawing/2014/main" id="{C6A13C8F-E465-7F18-3DE7-B854CD7F574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2662" r="19300" b="-1"/>
          <a:stretch/>
        </p:blipFill>
        <p:spPr>
          <a:xfrm>
            <a:off x="6229215" y="10"/>
            <a:ext cx="5962785" cy="6857990"/>
          </a:xfrm>
          <a:custGeom>
            <a:avLst/>
            <a:gdLst/>
            <a:ahLst/>
            <a:cxnLst/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796840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C200B2-9435-8398-3DFA-CE6FCFC38E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65125"/>
            <a:ext cx="5251316" cy="1807305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Ancient China - History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DC66246E-DE41-4F64-37BA-027377B9010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2054942"/>
            <a:ext cx="4619621" cy="4122021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Ctr="0" compatLnSpc="1">
            <a:prstTxWarp prst="textNoShape">
              <a:avLst/>
            </a:prstTxWarp>
            <a:normAutofit/>
          </a:bodyPr>
          <a:lstStyle/>
          <a:p>
            <a:pPr marL="0" marR="0" lvl="0" fontAlgn="base"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effectLst/>
              </a:rPr>
              <a:t>Great Wall of China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effectLst/>
              </a:rPr>
              <a:t>: Built to protect against </a:t>
            </a:r>
            <a:r>
              <a:rPr lang="en-US" sz="1700" dirty="0"/>
              <a:t>invasions and unify territories during the Qin Dynasty.</a:t>
            </a:r>
            <a:r>
              <a:rPr kumimoji="0" lang="en-US" altLang="en-US" sz="1700" i="0" u="none" strike="noStrike" cap="none" normalizeH="0" baseline="0" dirty="0">
                <a:ln>
                  <a:noFill/>
                </a:ln>
                <a:effectLst/>
              </a:rPr>
              <a:t> </a:t>
            </a:r>
          </a:p>
          <a:p>
            <a:pPr marL="0" marR="0" lvl="0" fontAlgn="base"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endParaRPr kumimoji="0" lang="en-US" altLang="en-US" sz="1700" i="0" u="none" strike="noStrike" cap="none" normalizeH="0" baseline="0" dirty="0">
              <a:ln>
                <a:noFill/>
              </a:ln>
              <a:effectLst/>
            </a:endParaRPr>
          </a:p>
          <a:p>
            <a:pPr marL="0" marR="0" lvl="0" fontAlgn="base"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effectLst/>
              </a:rPr>
              <a:t>Inventions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effectLst/>
              </a:rPr>
              <a:t>: Paper, gunpowder, compass, and silk were significant contributions to the world.</a:t>
            </a:r>
          </a:p>
          <a:p>
            <a:pPr marL="0" marR="0" lvl="0" fontAlgn="base"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endParaRPr kumimoji="0" lang="en-US" altLang="en-US" sz="1700" b="0" i="0" u="none" strike="noStrike" cap="none" normalizeH="0" baseline="0" dirty="0">
              <a:ln>
                <a:noFill/>
              </a:ln>
              <a:effectLst/>
            </a:endParaRPr>
          </a:p>
          <a:p>
            <a:pPr marL="0" marR="0" lvl="0" fontAlgn="base"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effectLst/>
              </a:rPr>
              <a:t>Dynasties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effectLst/>
              </a:rPr>
              <a:t>: Ancient China was ruled by powerful dynasties like  Shang, Zhou, Qin, and Han.</a:t>
            </a:r>
          </a:p>
          <a:p>
            <a:pPr marL="0" marR="0" lvl="0" fontAlgn="base"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endParaRPr kumimoji="0" lang="en-US" altLang="en-US" sz="1700" b="0" i="0" u="none" strike="noStrike" cap="none" normalizeH="0" baseline="0" dirty="0">
              <a:ln>
                <a:noFill/>
              </a:ln>
              <a:effectLst/>
            </a:endParaRPr>
          </a:p>
          <a:p>
            <a:pPr marL="0" marR="0" lvl="0" fontAlgn="base"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effectLst/>
              </a:rPr>
              <a:t>Philosophy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effectLst/>
              </a:rPr>
              <a:t>: Confucianism and Taoism shaped Chinese culture and governance. </a:t>
            </a:r>
          </a:p>
        </p:txBody>
      </p:sp>
      <p:pic>
        <p:nvPicPr>
          <p:cNvPr id="5" name="Picture 4" descr="Long shot of a great wall&#10;&#10;Description automatically generated">
            <a:extLst>
              <a:ext uri="{FF2B5EF4-FFF2-40B4-BE49-F238E27FC236}">
                <a16:creationId xmlns:a16="http://schemas.microsoft.com/office/drawing/2014/main" id="{B35C46CD-1F93-CFE4-52A0-F8419ED0F4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l="12970" r="27906" b="-1"/>
          <a:stretch/>
        </p:blipFill>
        <p:spPr>
          <a:xfrm>
            <a:off x="6229215" y="10"/>
            <a:ext cx="5962785" cy="6857990"/>
          </a:xfrm>
          <a:custGeom>
            <a:avLst/>
            <a:gdLst/>
            <a:ahLst/>
            <a:cxnLst/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4120241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5CD0EF-46E9-DB0D-8F09-8EB966A6E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13788" y="365125"/>
            <a:ext cx="4840010" cy="1807305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Ancient China - Legacy</a:t>
            </a:r>
          </a:p>
        </p:txBody>
      </p:sp>
      <p:pic>
        <p:nvPicPr>
          <p:cNvPr id="5" name="Picture 4" descr="A painting of a mountain range&#10;&#10;Description automatically generated">
            <a:extLst>
              <a:ext uri="{FF2B5EF4-FFF2-40B4-BE49-F238E27FC236}">
                <a16:creationId xmlns:a16="http://schemas.microsoft.com/office/drawing/2014/main" id="{07402464-2384-AACB-FA1D-77DCFD0F27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l="23137" r="36059" b="-1"/>
          <a:stretch/>
        </p:blipFill>
        <p:spPr>
          <a:xfrm>
            <a:off x="20" y="10"/>
            <a:ext cx="6116549" cy="6857990"/>
          </a:xfrm>
          <a:custGeom>
            <a:avLst/>
            <a:gdLst/>
            <a:ahLst/>
            <a:cxnLst/>
            <a:rect l="l" t="t" r="r" b="b"/>
            <a:pathLst>
              <a:path w="6116569" h="6879321">
                <a:moveTo>
                  <a:pt x="0" y="0"/>
                </a:moveTo>
                <a:lnTo>
                  <a:pt x="2935851" y="0"/>
                </a:lnTo>
                <a:cubicBezTo>
                  <a:pt x="3035710" y="10660"/>
                  <a:pt x="3138421" y="17767"/>
                  <a:pt x="3238280" y="31980"/>
                </a:cubicBezTo>
                <a:cubicBezTo>
                  <a:pt x="3817462" y="106602"/>
                  <a:pt x="3127009" y="277163"/>
                  <a:pt x="3660541" y="550772"/>
                </a:cubicBezTo>
                <a:cubicBezTo>
                  <a:pt x="3706191" y="575645"/>
                  <a:pt x="3757546" y="579199"/>
                  <a:pt x="3808902" y="589860"/>
                </a:cubicBezTo>
                <a:cubicBezTo>
                  <a:pt x="4008620" y="625393"/>
                  <a:pt x="4211192" y="618286"/>
                  <a:pt x="4413762" y="625393"/>
                </a:cubicBezTo>
                <a:cubicBezTo>
                  <a:pt x="4465118" y="628946"/>
                  <a:pt x="4525033" y="625393"/>
                  <a:pt x="4567830" y="721333"/>
                </a:cubicBezTo>
                <a:cubicBezTo>
                  <a:pt x="4425175" y="724888"/>
                  <a:pt x="4305344" y="731994"/>
                  <a:pt x="4171247" y="792401"/>
                </a:cubicBezTo>
                <a:cubicBezTo>
                  <a:pt x="4239722" y="859916"/>
                  <a:pt x="4322462" y="795955"/>
                  <a:pt x="4376671" y="842148"/>
                </a:cubicBezTo>
                <a:cubicBezTo>
                  <a:pt x="4428027" y="888342"/>
                  <a:pt x="4470824" y="891896"/>
                  <a:pt x="4527887" y="813722"/>
                </a:cubicBezTo>
                <a:cubicBezTo>
                  <a:pt x="4556417" y="774634"/>
                  <a:pt x="4604920" y="778187"/>
                  <a:pt x="4633452" y="799508"/>
                </a:cubicBezTo>
                <a:cubicBezTo>
                  <a:pt x="4781813" y="913216"/>
                  <a:pt x="4778960" y="909662"/>
                  <a:pt x="4947293" y="870576"/>
                </a:cubicBezTo>
                <a:cubicBezTo>
                  <a:pt x="5055712" y="845701"/>
                  <a:pt x="5166983" y="806615"/>
                  <a:pt x="5263988" y="820828"/>
                </a:cubicBezTo>
                <a:cubicBezTo>
                  <a:pt x="5275401" y="867022"/>
                  <a:pt x="5263988" y="888342"/>
                  <a:pt x="5249723" y="895449"/>
                </a:cubicBezTo>
                <a:cubicBezTo>
                  <a:pt x="5021475" y="1005604"/>
                  <a:pt x="4975825" y="1122864"/>
                  <a:pt x="4744723" y="1197485"/>
                </a:cubicBezTo>
                <a:cubicBezTo>
                  <a:pt x="4724751" y="1268552"/>
                  <a:pt x="4807491" y="1275660"/>
                  <a:pt x="4767548" y="1346727"/>
                </a:cubicBezTo>
                <a:cubicBezTo>
                  <a:pt x="4693367" y="1407134"/>
                  <a:pt x="4610627" y="1346727"/>
                  <a:pt x="4539299" y="1421348"/>
                </a:cubicBezTo>
                <a:cubicBezTo>
                  <a:pt x="4550712" y="1471094"/>
                  <a:pt x="4610627" y="1432008"/>
                  <a:pt x="4607773" y="1485309"/>
                </a:cubicBezTo>
                <a:cubicBezTo>
                  <a:pt x="4604920" y="1517288"/>
                  <a:pt x="4593508" y="1527948"/>
                  <a:pt x="4579242" y="1535055"/>
                </a:cubicBezTo>
                <a:cubicBezTo>
                  <a:pt x="4776107" y="1538608"/>
                  <a:pt x="5383820" y="1574142"/>
                  <a:pt x="5278255" y="1609676"/>
                </a:cubicBezTo>
                <a:cubicBezTo>
                  <a:pt x="5418057" y="1698511"/>
                  <a:pt x="5623481" y="1609676"/>
                  <a:pt x="5771843" y="1630997"/>
                </a:cubicBezTo>
                <a:cubicBezTo>
                  <a:pt x="5925911" y="1652316"/>
                  <a:pt x="6171278" y="1719830"/>
                  <a:pt x="6105656" y="1748257"/>
                </a:cubicBezTo>
                <a:cubicBezTo>
                  <a:pt x="6031475" y="1780238"/>
                  <a:pt x="5766136" y="2146235"/>
                  <a:pt x="5691955" y="2167555"/>
                </a:cubicBezTo>
                <a:cubicBezTo>
                  <a:pt x="5606362" y="2188875"/>
                  <a:pt x="5589243" y="2217302"/>
                  <a:pt x="5475118" y="2348776"/>
                </a:cubicBezTo>
                <a:cubicBezTo>
                  <a:pt x="5398085" y="2437610"/>
                  <a:pt x="5709074" y="2238623"/>
                  <a:pt x="5826051" y="2291922"/>
                </a:cubicBezTo>
                <a:cubicBezTo>
                  <a:pt x="5868848" y="2309690"/>
                  <a:pt x="5552153" y="2554872"/>
                  <a:pt x="5552153" y="2597513"/>
                </a:cubicBezTo>
                <a:cubicBezTo>
                  <a:pt x="5549300" y="2640153"/>
                  <a:pt x="5577831" y="2647260"/>
                  <a:pt x="5603508" y="2647260"/>
                </a:cubicBezTo>
                <a:cubicBezTo>
                  <a:pt x="5660571" y="2647260"/>
                  <a:pt x="5640599" y="2686346"/>
                  <a:pt x="5700515" y="2679240"/>
                </a:cubicBezTo>
                <a:cubicBezTo>
                  <a:pt x="5523622" y="2800055"/>
                  <a:pt x="5418057" y="2778734"/>
                  <a:pt x="5246870" y="2888889"/>
                </a:cubicBezTo>
                <a:cubicBezTo>
                  <a:pt x="5164130" y="2942189"/>
                  <a:pt x="4921615" y="3119857"/>
                  <a:pt x="4836022" y="3169605"/>
                </a:cubicBezTo>
                <a:cubicBezTo>
                  <a:pt x="4801785" y="3187371"/>
                  <a:pt x="4758988" y="3173158"/>
                  <a:pt x="4736163" y="3233565"/>
                </a:cubicBezTo>
                <a:cubicBezTo>
                  <a:pt x="4770400" y="3279759"/>
                  <a:pt x="4816050" y="3254885"/>
                  <a:pt x="4853141" y="3233565"/>
                </a:cubicBezTo>
                <a:cubicBezTo>
                  <a:pt x="4944440" y="3176711"/>
                  <a:pt x="4935881" y="3190925"/>
                  <a:pt x="4944440" y="3226459"/>
                </a:cubicBezTo>
                <a:cubicBezTo>
                  <a:pt x="4972972" y="3350827"/>
                  <a:pt x="5044300" y="3308186"/>
                  <a:pt x="5109921" y="3283313"/>
                </a:cubicBezTo>
                <a:cubicBezTo>
                  <a:pt x="5303932" y="3208692"/>
                  <a:pt x="5500797" y="3215799"/>
                  <a:pt x="5694809" y="3141178"/>
                </a:cubicBezTo>
                <a:cubicBezTo>
                  <a:pt x="5714781" y="3134070"/>
                  <a:pt x="5612068" y="3283313"/>
                  <a:pt x="5566419" y="3301079"/>
                </a:cubicBezTo>
                <a:cubicBezTo>
                  <a:pt x="5515063" y="3322399"/>
                  <a:pt x="5452294" y="3311739"/>
                  <a:pt x="5415203" y="3397020"/>
                </a:cubicBezTo>
                <a:cubicBezTo>
                  <a:pt x="5477972" y="3414787"/>
                  <a:pt x="5552153" y="3372147"/>
                  <a:pt x="5612068" y="3432554"/>
                </a:cubicBezTo>
                <a:cubicBezTo>
                  <a:pt x="5469413" y="3528494"/>
                  <a:pt x="5329610" y="3535601"/>
                  <a:pt x="5206927" y="3599562"/>
                </a:cubicBezTo>
                <a:cubicBezTo>
                  <a:pt x="5192661" y="3706163"/>
                  <a:pt x="5272548" y="3663523"/>
                  <a:pt x="5301079" y="3723930"/>
                </a:cubicBezTo>
                <a:cubicBezTo>
                  <a:pt x="5072830" y="3844745"/>
                  <a:pt x="4564977" y="4232062"/>
                  <a:pt x="4507915" y="4306683"/>
                </a:cubicBezTo>
                <a:cubicBezTo>
                  <a:pt x="4390937" y="4463031"/>
                  <a:pt x="3900202" y="4562525"/>
                  <a:pt x="3982942" y="4587399"/>
                </a:cubicBezTo>
                <a:cubicBezTo>
                  <a:pt x="4051417" y="4608719"/>
                  <a:pt x="4119891" y="4587399"/>
                  <a:pt x="4185513" y="4541205"/>
                </a:cubicBezTo>
                <a:cubicBezTo>
                  <a:pt x="4291078" y="4466584"/>
                  <a:pt x="5010062" y="4523438"/>
                  <a:pt x="5212633" y="4455924"/>
                </a:cubicBezTo>
                <a:cubicBezTo>
                  <a:pt x="5241164" y="4445264"/>
                  <a:pt x="5283960" y="4409730"/>
                  <a:pt x="5312492" y="4473691"/>
                </a:cubicBezTo>
                <a:cubicBezTo>
                  <a:pt x="5098508" y="4704659"/>
                  <a:pt x="4833169" y="4654913"/>
                  <a:pt x="4596361" y="4818368"/>
                </a:cubicBezTo>
                <a:cubicBezTo>
                  <a:pt x="4684807" y="4917861"/>
                  <a:pt x="4776107" y="4907202"/>
                  <a:pt x="4873113" y="4885882"/>
                </a:cubicBezTo>
                <a:cubicBezTo>
                  <a:pt x="4895938" y="4878775"/>
                  <a:pt x="4930175" y="4871668"/>
                  <a:pt x="4935881" y="4914309"/>
                </a:cubicBezTo>
                <a:cubicBezTo>
                  <a:pt x="4941587" y="4967609"/>
                  <a:pt x="4898790" y="4978270"/>
                  <a:pt x="4873113" y="5003143"/>
                </a:cubicBezTo>
                <a:cubicBezTo>
                  <a:pt x="4833169" y="5038676"/>
                  <a:pt x="4773254" y="4999590"/>
                  <a:pt x="4721898" y="5095530"/>
                </a:cubicBezTo>
                <a:cubicBezTo>
                  <a:pt x="4873113" y="5067104"/>
                  <a:pt x="4998650" y="5020910"/>
                  <a:pt x="5132745" y="4949842"/>
                </a:cubicBezTo>
                <a:cubicBezTo>
                  <a:pt x="5121333" y="5006696"/>
                  <a:pt x="5081390" y="5035123"/>
                  <a:pt x="5101362" y="5081317"/>
                </a:cubicBezTo>
                <a:cubicBezTo>
                  <a:pt x="5118480" y="5116850"/>
                  <a:pt x="5164130" y="5131063"/>
                  <a:pt x="5138452" y="5198578"/>
                </a:cubicBezTo>
                <a:cubicBezTo>
                  <a:pt x="5067125" y="5273199"/>
                  <a:pt x="4967265" y="5258986"/>
                  <a:pt x="4904497" y="5362033"/>
                </a:cubicBezTo>
                <a:cubicBezTo>
                  <a:pt x="4818903" y="5507721"/>
                  <a:pt x="4684807" y="5564575"/>
                  <a:pt x="4579242" y="5674729"/>
                </a:cubicBezTo>
                <a:cubicBezTo>
                  <a:pt x="4545005" y="5713816"/>
                  <a:pt x="4313903" y="5841738"/>
                  <a:pt x="4253988" y="5884379"/>
                </a:cubicBezTo>
                <a:cubicBezTo>
                  <a:pt x="4168395" y="5944786"/>
                  <a:pt x="4071389" y="5966106"/>
                  <a:pt x="3985795" y="6069153"/>
                </a:cubicBezTo>
                <a:cubicBezTo>
                  <a:pt x="4065682" y="6086921"/>
                  <a:pt x="4134157" y="5990979"/>
                  <a:pt x="4231163" y="6030066"/>
                </a:cubicBezTo>
                <a:cubicBezTo>
                  <a:pt x="4074242" y="6133114"/>
                  <a:pt x="3931586" y="6182861"/>
                  <a:pt x="3814609" y="6317889"/>
                </a:cubicBezTo>
                <a:cubicBezTo>
                  <a:pt x="3800343" y="6335656"/>
                  <a:pt x="3771812" y="6332102"/>
                  <a:pt x="3751840" y="6339209"/>
                </a:cubicBezTo>
                <a:cubicBezTo>
                  <a:pt x="3529298" y="6406723"/>
                  <a:pt x="3309608" y="6467130"/>
                  <a:pt x="3089919" y="6563071"/>
                </a:cubicBezTo>
                <a:cubicBezTo>
                  <a:pt x="3041416" y="6584392"/>
                  <a:pt x="2955823" y="6595052"/>
                  <a:pt x="2961529" y="6662566"/>
                </a:cubicBezTo>
                <a:cubicBezTo>
                  <a:pt x="2972941" y="6765613"/>
                  <a:pt x="3055681" y="6687439"/>
                  <a:pt x="3107038" y="6673226"/>
                </a:cubicBezTo>
                <a:cubicBezTo>
                  <a:pt x="3269664" y="6634138"/>
                  <a:pt x="3432292" y="6570178"/>
                  <a:pt x="3594919" y="6591499"/>
                </a:cubicBezTo>
                <a:cubicBezTo>
                  <a:pt x="3483648" y="6637693"/>
                  <a:pt x="3372376" y="6680332"/>
                  <a:pt x="3261106" y="6726527"/>
                </a:cubicBezTo>
                <a:cubicBezTo>
                  <a:pt x="3386642" y="6705206"/>
                  <a:pt x="3495061" y="6786934"/>
                  <a:pt x="3620597" y="6740740"/>
                </a:cubicBezTo>
                <a:cubicBezTo>
                  <a:pt x="3660541" y="6726527"/>
                  <a:pt x="3700484" y="6765613"/>
                  <a:pt x="3703337" y="6826020"/>
                </a:cubicBezTo>
                <a:cubicBezTo>
                  <a:pt x="3706191" y="6847340"/>
                  <a:pt x="3700484" y="6865108"/>
                  <a:pt x="3689072" y="6879321"/>
                </a:cubicBezTo>
                <a:lnTo>
                  <a:pt x="0" y="6879321"/>
                </a:lnTo>
                <a:close/>
              </a:path>
            </a:pathLst>
          </a:custGeom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AFCDCF74-2C20-B3AE-929B-28BA79A4CA3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513788" y="2172430"/>
            <a:ext cx="5373412" cy="4299002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Ctr="0" compatLnSpc="1">
            <a:prstTxWarp prst="textNoShape">
              <a:avLst/>
            </a:prstTxWarp>
            <a:normAutofit/>
          </a:bodyPr>
          <a:lstStyle/>
          <a:p>
            <a:pPr marL="0" marR="0" lvl="0" fontAlgn="base"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effectLst/>
              </a:rPr>
              <a:t>Innovations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effectLst/>
              </a:rPr>
              <a:t>: Influential inventions like paper, silk, the compass, and gunpowder revolutionized the world.</a:t>
            </a:r>
          </a:p>
          <a:p>
            <a:pPr marL="0" marR="0" lvl="0" indent="0" fontAlgn="base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endParaRPr kumimoji="0" lang="en-US" altLang="en-US" sz="1700" b="0" i="0" u="none" strike="noStrike" cap="none" normalizeH="0" baseline="0" dirty="0">
              <a:ln>
                <a:noFill/>
              </a:ln>
              <a:effectLst/>
            </a:endParaRPr>
          </a:p>
          <a:p>
            <a:pPr marL="0" marR="0" lvl="0" fontAlgn="base"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effectLst/>
              </a:rPr>
              <a:t>Philosophical Impact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effectLst/>
              </a:rPr>
              <a:t>: Confucianism and Taoism continue to influence modern thought, ethics, and governance.</a:t>
            </a:r>
          </a:p>
          <a:p>
            <a:pPr marL="0" marR="0" lvl="0" fontAlgn="base"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endParaRPr kumimoji="0" lang="en-US" altLang="en-US" sz="1700" b="0" i="0" u="none" strike="noStrike" cap="none" normalizeH="0" baseline="0" dirty="0">
              <a:ln>
                <a:noFill/>
              </a:ln>
              <a:effectLst/>
            </a:endParaRPr>
          </a:p>
          <a:p>
            <a:pPr marL="0" marR="0" lvl="0" fontAlgn="base"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effectLst/>
              </a:rPr>
              <a:t>Cultural Heritage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effectLst/>
              </a:rPr>
              <a:t>: Iconic landmarks like the Great Wall and Chinese calligraphy remain symbols of Chinese identity.</a:t>
            </a:r>
          </a:p>
          <a:p>
            <a:pPr marL="0" marR="0" lvl="0" fontAlgn="base"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endParaRPr kumimoji="0" lang="en-US" altLang="en-US" sz="1700" b="0" i="0" u="none" strike="noStrike" cap="none" normalizeH="0" baseline="0" dirty="0">
              <a:ln>
                <a:noFill/>
              </a:ln>
              <a:effectLst/>
            </a:endParaRPr>
          </a:p>
          <a:p>
            <a:pPr marL="0" marR="0" lvl="0" fontAlgn="base">
              <a:spcBef>
                <a:spcPct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effectLst/>
              </a:rPr>
              <a:t>Silk Road Trade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effectLst/>
              </a:rPr>
              <a:t>: Established a foundation for global trade, connecting Asia, Europe, and Africa. </a:t>
            </a:r>
          </a:p>
        </p:txBody>
      </p:sp>
    </p:spTree>
    <p:extLst>
      <p:ext uri="{BB962C8B-B14F-4D97-AF65-F5344CB8AC3E}">
        <p14:creationId xmlns:p14="http://schemas.microsoft.com/office/powerpoint/2010/main" val="40161776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0D403B8-07A3-EFFF-43B9-5CA03C1A04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0" y="762001"/>
            <a:ext cx="5334197" cy="170824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dirty="0"/>
              <a:t>Ancient Greece - History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7B76CB-45AE-3094-3E24-05621ACA3D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1800" y="2470244"/>
            <a:ext cx="5334197" cy="376983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/>
            <a:r>
              <a:rPr lang="en-US" sz="1900" dirty="0"/>
              <a:t>Ancient Greece (c. 1200 BCE - 323 BCE) was composed of city-states, like Athens and Sparta.</a:t>
            </a:r>
          </a:p>
          <a:p>
            <a:pPr marL="0"/>
            <a:endParaRPr lang="en-US" sz="1900" dirty="0"/>
          </a:p>
          <a:p>
            <a:pPr marL="0"/>
            <a:r>
              <a:rPr lang="en-US" sz="1900" dirty="0"/>
              <a:t>Known for its development of democracy, especially in Athens.</a:t>
            </a:r>
          </a:p>
          <a:p>
            <a:pPr marL="0"/>
            <a:endParaRPr lang="en-US" sz="1900" dirty="0"/>
          </a:p>
          <a:p>
            <a:pPr marL="0"/>
            <a:r>
              <a:rPr lang="en-US" sz="1900" dirty="0"/>
              <a:t>Pioneers in philosophy, with thinkers like Socrates, Plato, and Aristotle.</a:t>
            </a:r>
          </a:p>
          <a:p>
            <a:pPr marL="0"/>
            <a:endParaRPr lang="en-US" sz="1900" dirty="0"/>
          </a:p>
          <a:p>
            <a:pPr marL="0"/>
            <a:r>
              <a:rPr lang="en-US" sz="1900" dirty="0"/>
              <a:t>Major contributions to mathematics, science, and art.</a:t>
            </a:r>
          </a:p>
        </p:txBody>
      </p:sp>
      <p:pic>
        <p:nvPicPr>
          <p:cNvPr id="14" name="Picture 13" descr="Sculpture of a head">
            <a:extLst>
              <a:ext uri="{FF2B5EF4-FFF2-40B4-BE49-F238E27FC236}">
                <a16:creationId xmlns:a16="http://schemas.microsoft.com/office/drawing/2014/main" id="{A8F7A3AC-60DF-216D-2903-2B31F1EF1B6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707" r="39456" b="-1"/>
          <a:stretch/>
        </p:blipFill>
        <p:spPr>
          <a:xfrm>
            <a:off x="6857797" y="-10886"/>
            <a:ext cx="5334204" cy="6868886"/>
          </a:xfrm>
          <a:prstGeom prst="rect">
            <a:avLst/>
          </a:prstGeom>
          <a:effectLst>
            <a:outerShdw blurRad="127000" dist="50800" dir="10800000" sx="99000" sy="99000" algn="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5931253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F94AA2BD-2E3F-4B1D-8127-5744B81153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BE4AE1-4AC7-323C-7E92-A9EE3F22A3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987552"/>
            <a:ext cx="4485861" cy="108813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400"/>
              <a:t>Ancient Greece - Legacy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BD02261-2DC8-4AA8-9E16-7751AE8924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49223" y="387939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D752CF2-2291-40B5-B462-C17B174C10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1480" y="2286000"/>
            <a:ext cx="438912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3BA662-0FB5-0487-F7C3-7683969F9A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1479" y="2688336"/>
            <a:ext cx="4498848" cy="358444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/>
            <a:r>
              <a:rPr lang="en-US" sz="1700" dirty="0"/>
              <a:t>Democracy, a system of government born in Athens, remains central in modern politics.</a:t>
            </a:r>
          </a:p>
          <a:p>
            <a:pPr marL="0"/>
            <a:endParaRPr lang="en-US" sz="1700" dirty="0"/>
          </a:p>
          <a:p>
            <a:pPr marL="0"/>
            <a:r>
              <a:rPr lang="en-US" sz="1700" dirty="0"/>
              <a:t>Philosophical and scientific thinking from Greece still shapes modern thought.</a:t>
            </a:r>
          </a:p>
          <a:p>
            <a:pPr marL="0"/>
            <a:endParaRPr lang="en-US" sz="1700" dirty="0"/>
          </a:p>
          <a:p>
            <a:pPr marL="0"/>
            <a:r>
              <a:rPr lang="en-US" sz="1700" dirty="0"/>
              <a:t>Greek art, architecture, and literature continue to influence Western culture.</a:t>
            </a:r>
          </a:p>
          <a:p>
            <a:pPr marL="0"/>
            <a:endParaRPr lang="en-US" sz="1700" dirty="0"/>
          </a:p>
          <a:p>
            <a:pPr marL="0"/>
            <a:r>
              <a:rPr lang="en-US" sz="1700" dirty="0"/>
              <a:t>The Olympic Games, originating in Greece, are still celebrated globally.</a:t>
            </a:r>
          </a:p>
        </p:txBody>
      </p:sp>
      <p:pic>
        <p:nvPicPr>
          <p:cNvPr id="5" name="Picture 4" descr="A person holding up his hand&#10;&#10;Description automatically generated">
            <a:extLst>
              <a:ext uri="{FF2B5EF4-FFF2-40B4-BE49-F238E27FC236}">
                <a16:creationId xmlns:a16="http://schemas.microsoft.com/office/drawing/2014/main" id="{9E0E3BAE-522F-56AE-C825-9217BC2DB5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l="21644" r="21894"/>
          <a:stretch/>
        </p:blipFill>
        <p:spPr>
          <a:xfrm>
            <a:off x="5308052" y="10"/>
            <a:ext cx="6883948" cy="6857990"/>
          </a:xfrm>
          <a:custGeom>
            <a:avLst/>
            <a:gdLst/>
            <a:ahLst/>
            <a:cxnLst/>
            <a:rect l="l" t="t" r="r" b="b"/>
            <a:pathLst>
              <a:path w="6883948" h="6858000">
                <a:moveTo>
                  <a:pt x="365648" y="0"/>
                </a:moveTo>
                <a:lnTo>
                  <a:pt x="6883948" y="0"/>
                </a:lnTo>
                <a:lnTo>
                  <a:pt x="6883948" y="6858000"/>
                </a:lnTo>
                <a:lnTo>
                  <a:pt x="365648" y="6858000"/>
                </a:lnTo>
                <a:lnTo>
                  <a:pt x="360213" y="6835050"/>
                </a:lnTo>
                <a:cubicBezTo>
                  <a:pt x="128263" y="5788167"/>
                  <a:pt x="0" y="4637179"/>
                  <a:pt x="0" y="3429001"/>
                </a:cubicBezTo>
                <a:cubicBezTo>
                  <a:pt x="0" y="2220824"/>
                  <a:pt x="128263" y="1069835"/>
                  <a:pt x="360213" y="22952"/>
                </a:cubicBezTo>
                <a:close/>
              </a:path>
            </a:pathLst>
          </a:custGeom>
          <a:effectLst>
            <a:outerShdw blurRad="50800" dist="38100" dir="10800000" algn="r" rotWithShape="0">
              <a:schemeClr val="bg1">
                <a:lumMod val="85000"/>
                <a:alpha val="30000"/>
              </a:schemeClr>
            </a:outerShdw>
          </a:effectLst>
        </p:spPr>
      </p:pic>
    </p:spTree>
    <p:extLst>
      <p:ext uri="{BB962C8B-B14F-4D97-AF65-F5344CB8AC3E}">
        <p14:creationId xmlns:p14="http://schemas.microsoft.com/office/powerpoint/2010/main" val="40449376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 descr="Mountains in the fog">
            <a:extLst>
              <a:ext uri="{FF2B5EF4-FFF2-40B4-BE49-F238E27FC236}">
                <a16:creationId xmlns:a16="http://schemas.microsoft.com/office/drawing/2014/main" id="{76822952-0D7E-107A-A55F-1AACF51C739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76263"/>
            <a:ext cx="12192000" cy="6984694"/>
          </a:xfrm>
          <a:prstGeom prst="rect">
            <a:avLst/>
          </a:prstGeom>
          <a:ln w="190500" cap="sq">
            <a:solidFill>
              <a:srgbClr val="C8C6BD"/>
            </a:solidFill>
            <a:prstDash val="solid"/>
            <a:miter lim="800000"/>
          </a:ln>
          <a:effectLst>
            <a:outerShdw blurRad="254000" algn="bl" rotWithShape="0">
              <a:srgbClr val="000000">
                <a:alpha val="43000"/>
              </a:srgbClr>
            </a:outerShdw>
          </a:effectLst>
          <a:scene3d>
            <a:camera prst="perspectiveFront" fov="5400000"/>
            <a:lightRig rig="threePt" dir="t">
              <a:rot lat="0" lon="0" rev="21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  <p:sp>
        <p:nvSpPr>
          <p:cNvPr id="14" name="Rectangle 6">
            <a:extLst>
              <a:ext uri="{FF2B5EF4-FFF2-40B4-BE49-F238E27FC236}">
                <a16:creationId xmlns:a16="http://schemas.microsoft.com/office/drawing/2014/main" id="{61E91557-F91C-3F61-7704-F60E1E88A7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45340" y="1354009"/>
            <a:ext cx="9694064" cy="39241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b="1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4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+mj-lt"/>
              </a:rPr>
              <a:t> Conclusion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4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+mj-lt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Ancient civilizations significantly shaped modern culture, governance, and philosophy.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9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They introduced remarkable advancements in science, engineering, and urban planning.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9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These societies thrived on trade, knowledge-sharing, and cultural integration.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9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9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Their achievements and challenges continue to inspire resilience and innovation today.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92813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77625928-2316-4B64-B6D2-89B49675569C}">
  <we:reference id="wa200005566" version="3.0.0.2" store="en-IN" storeType="OMEX"/>
  <we:alternateReferences>
    <we:reference id="WA200005566" version="3.0.0.2" store="WA200005566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991</TotalTime>
  <Words>824</Words>
  <Application>Microsoft Office PowerPoint</Application>
  <PresentationFormat>Widescreen</PresentationFormat>
  <Paragraphs>110</Paragraphs>
  <Slides>14</Slides>
  <Notes>2</Notes>
  <HiddenSlides>0</HiddenSlides>
  <MMClips>1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Aptos</vt:lpstr>
      <vt:lpstr>Aptos Display</vt:lpstr>
      <vt:lpstr>Arial</vt:lpstr>
      <vt:lpstr>Calibri</vt:lpstr>
      <vt:lpstr>Play</vt:lpstr>
      <vt:lpstr>Office Theme</vt:lpstr>
      <vt:lpstr>1_Office Theme</vt:lpstr>
      <vt:lpstr>The History and Legacy of Ancient Civilizations</vt:lpstr>
      <vt:lpstr>Introduction</vt:lpstr>
      <vt:lpstr>Sumerians - History</vt:lpstr>
      <vt:lpstr>Sumerians - History</vt:lpstr>
      <vt:lpstr>Sumerians - Legacy</vt:lpstr>
      <vt:lpstr>Indus Valley - History</vt:lpstr>
      <vt:lpstr>Indus Valley - Legacy</vt:lpstr>
      <vt:lpstr>Ancient Egypt - History</vt:lpstr>
      <vt:lpstr>Ancient Egypt - Legacy</vt:lpstr>
      <vt:lpstr>Ancient China - History</vt:lpstr>
      <vt:lpstr>Ancient China - Legacy</vt:lpstr>
      <vt:lpstr>Ancient Greece - History</vt:lpstr>
      <vt:lpstr>Ancient Greece - Legacy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suchandra siripuram</dc:creator>
  <cp:lastModifiedBy>DBDA</cp:lastModifiedBy>
  <cp:revision>7</cp:revision>
  <dcterms:created xsi:type="dcterms:W3CDTF">2024-12-04T11:27:23Z</dcterms:created>
  <dcterms:modified xsi:type="dcterms:W3CDTF">2024-12-12T03:01:39Z</dcterms:modified>
</cp:coreProperties>
</file>